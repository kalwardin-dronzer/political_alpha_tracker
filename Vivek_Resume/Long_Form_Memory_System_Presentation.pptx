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70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6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34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29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3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1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9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6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89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6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30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233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16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042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458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760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47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7F80-39CC-E1C6-9965-0A575E67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C1571-221C-B326-C51E-2151D8DC2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4812-529E-1A48-59CB-DF4CBF3E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81E0E-D0A9-407C-C794-303B12FA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927EE-81B5-68B8-7411-544E564B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80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43AA9-B5DB-4027-A3AB-DB51BCF2130D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465F6-59AF-4887-9E08-E6BD1BA2E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287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ivek.kumar24004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DEA5-A50B-031D-901E-339B4F5E2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0585"/>
            <a:ext cx="9144000" cy="208937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Long-Form Memory System for 1,000+ Turns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41836-A17F-509F-9536-7789FD69E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7056" y="801689"/>
            <a:ext cx="2955472" cy="1059768"/>
          </a:xfrm>
        </p:spPr>
        <p:txBody>
          <a:bodyPr/>
          <a:lstStyle/>
          <a:p>
            <a:r>
              <a:rPr lang="en-US" dirty="0" err="1"/>
              <a:t>NeuroHack</a:t>
            </a:r>
            <a:r>
              <a:rPr lang="en-US" dirty="0"/>
              <a:t> Challenge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75234-6CEC-E3BA-BA68-88A9D925D623}"/>
              </a:ext>
            </a:extLst>
          </p:cNvPr>
          <p:cNvSpPr txBox="1"/>
          <p:nvPr/>
        </p:nvSpPr>
        <p:spPr>
          <a:xfrm>
            <a:off x="2695575" y="4212771"/>
            <a:ext cx="6800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Team Members: Vivek Kumar &amp; Satyam Kumar Sharma</a:t>
            </a:r>
          </a:p>
          <a:p>
            <a:pPr algn="ctr"/>
            <a:r>
              <a:rPr lang="en-IN" dirty="0"/>
              <a:t>Date:13</a:t>
            </a:r>
            <a:r>
              <a:rPr lang="en-IN" baseline="30000" dirty="0"/>
              <a:t>th</a:t>
            </a:r>
            <a:r>
              <a:rPr lang="en-IN" dirty="0"/>
              <a:t> Feb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D484C-B48B-01B8-2023-16A2BA9A0B32}"/>
              </a:ext>
            </a:extLst>
          </p:cNvPr>
          <p:cNvSpPr txBox="1"/>
          <p:nvPr/>
        </p:nvSpPr>
        <p:spPr>
          <a:xfrm>
            <a:off x="9184821" y="6334780"/>
            <a:ext cx="4163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P: 7870145339</a:t>
            </a:r>
          </a:p>
          <a:p>
            <a:r>
              <a:rPr lang="en-IN" sz="1400" dirty="0"/>
              <a:t>E: </a:t>
            </a:r>
            <a:r>
              <a:rPr lang="en-IN" sz="1400" dirty="0">
                <a:hlinkClick r:id="rId2"/>
              </a:rPr>
              <a:t>vivek.kumar240043@gmail.com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3207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DB4B-1A74-EE8B-29AC-AE396CAB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1)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F7929-AE58-C7F5-C601-A741550C0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Goal: Retain and recall user information across 1,000+ turns in real time.</a:t>
            </a:r>
          </a:p>
          <a:p>
            <a:r>
              <a:rPr lang="en-US" sz="2200" dirty="0"/>
              <a:t>Constraints: no full conversation replay, no unbounded prompt growth, fully automated pipeline.</a:t>
            </a:r>
          </a:p>
          <a:p>
            <a:r>
              <a:rPr lang="en-US" sz="2200" dirty="0"/>
              <a:t>Success condition: information from early turns must influence late-turn behavior accurately.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9124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5F6-E2A6-C539-46E9-C299B931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264" y="100191"/>
            <a:ext cx="8610600" cy="1038653"/>
          </a:xfrm>
        </p:spPr>
        <p:txBody>
          <a:bodyPr>
            <a:normAutofit/>
          </a:bodyPr>
          <a:lstStyle/>
          <a:p>
            <a:r>
              <a:rPr lang="en-US" sz="2400" b="1" dirty="0"/>
              <a:t>2) System Architecture (Components + Dataflow)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61278-1EBF-1AC6-34C1-2DC8AB058205}"/>
              </a:ext>
            </a:extLst>
          </p:cNvPr>
          <p:cNvSpPr txBox="1"/>
          <p:nvPr/>
        </p:nvSpPr>
        <p:spPr>
          <a:xfrm>
            <a:off x="911758" y="950549"/>
            <a:ext cx="682739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[User Message]</a:t>
            </a:r>
          </a:p>
          <a:p>
            <a:r>
              <a:rPr lang="en-IN" sz="1600" dirty="0"/>
              <a:t>    |</a:t>
            </a:r>
          </a:p>
          <a:p>
            <a:r>
              <a:rPr lang="en-IN" sz="1600" dirty="0"/>
              <a:t>    v</a:t>
            </a:r>
          </a:p>
          <a:p>
            <a:r>
              <a:rPr lang="en-IN" sz="1600" dirty="0"/>
              <a:t>[API: POST /sessions/{</a:t>
            </a:r>
            <a:r>
              <a:rPr lang="en-IN" sz="1600" dirty="0" err="1"/>
              <a:t>session_id</a:t>
            </a:r>
            <a:r>
              <a:rPr lang="en-IN" sz="1600" dirty="0"/>
              <a:t>}/turns]</a:t>
            </a:r>
          </a:p>
          <a:p>
            <a:r>
              <a:rPr lang="en-IN" sz="1600" dirty="0"/>
              <a:t>    |</a:t>
            </a:r>
          </a:p>
          <a:p>
            <a:r>
              <a:rPr lang="en-IN" sz="1600" dirty="0"/>
              <a:t>    +--&gt; FAST PATH (Synchronous, Low Latency)</a:t>
            </a:r>
          </a:p>
          <a:p>
            <a:r>
              <a:rPr lang="en-IN" sz="1600" dirty="0"/>
              <a:t>    |       -&gt; [Persist Turn: SQLite turns table]</a:t>
            </a:r>
          </a:p>
          <a:p>
            <a:r>
              <a:rPr lang="en-IN" sz="1600" dirty="0"/>
              <a:t>    |       -&gt; [Short-Term Buffer: last K turns]</a:t>
            </a:r>
          </a:p>
          <a:p>
            <a:r>
              <a:rPr lang="en-IN" sz="1600" dirty="0"/>
              <a:t>    |       -&gt; [Hybrid Retriever]</a:t>
            </a:r>
          </a:p>
          <a:p>
            <a:r>
              <a:rPr lang="en-IN" sz="1600" dirty="0"/>
              <a:t>    |             -&gt; [Lexical Retrieval: SQLite FTS5]</a:t>
            </a:r>
          </a:p>
          <a:p>
            <a:r>
              <a:rPr lang="en-IN" sz="1600" dirty="0"/>
              <a:t>    |             -&gt; [Semantic Retrieval: Embeddings]</a:t>
            </a:r>
          </a:p>
          <a:p>
            <a:r>
              <a:rPr lang="en-IN" sz="1600" dirty="0"/>
              <a:t>    |             -&gt; [Ranking: semantic + lexical + recency + confidence]</a:t>
            </a:r>
          </a:p>
          <a:p>
            <a:r>
              <a:rPr lang="en-IN" sz="1600" dirty="0"/>
              <a:t>    |       -&gt; [Response Generator + Memory Injection]</a:t>
            </a:r>
          </a:p>
          <a:p>
            <a:r>
              <a:rPr lang="en-IN" sz="1600" dirty="0"/>
              <a:t>    |       -&gt; [Return Assistant Response]</a:t>
            </a:r>
          </a:p>
          <a:p>
            <a:r>
              <a:rPr lang="en-IN" sz="1600" dirty="0"/>
              <a:t>    |</a:t>
            </a:r>
          </a:p>
          <a:p>
            <a:r>
              <a:rPr lang="en-IN" sz="1600" dirty="0"/>
              <a:t>    +--&gt; ASYNC PATH (Background)</a:t>
            </a:r>
          </a:p>
          <a:p>
            <a:r>
              <a:rPr lang="en-IN" sz="1600" dirty="0"/>
              <a:t>            -&gt; [Queue Memory Task]</a:t>
            </a:r>
          </a:p>
          <a:p>
            <a:r>
              <a:rPr lang="en-IN" sz="1600" dirty="0"/>
              <a:t>            -&gt; [Memory Extractor]</a:t>
            </a:r>
          </a:p>
          <a:p>
            <a:r>
              <a:rPr lang="en-IN" sz="1600" dirty="0"/>
              <a:t>            -&gt; [Normalize + Conflict Resolver]</a:t>
            </a:r>
          </a:p>
          <a:p>
            <a:r>
              <a:rPr lang="en-IN" sz="1600" dirty="0"/>
              <a:t>            -&gt; [</a:t>
            </a:r>
            <a:r>
              <a:rPr lang="en-IN" sz="1600" dirty="0" err="1"/>
              <a:t>Upsert</a:t>
            </a:r>
            <a:r>
              <a:rPr lang="en-IN" sz="1600" dirty="0"/>
              <a:t> Long-Term Memory]</a:t>
            </a:r>
          </a:p>
          <a:p>
            <a:r>
              <a:rPr lang="en-IN" sz="1600" dirty="0"/>
              <a:t>                 (SQLite memories + </a:t>
            </a:r>
            <a:r>
              <a:rPr lang="en-IN" sz="1600" dirty="0" err="1"/>
              <a:t>memory_embeddings</a:t>
            </a:r>
            <a:r>
              <a:rPr lang="en-IN" sz="1600" dirty="0"/>
              <a:t> + </a:t>
            </a:r>
            <a:r>
              <a:rPr lang="en-IN" sz="1600" dirty="0" err="1"/>
              <a:t>memory_fts</a:t>
            </a:r>
            <a:r>
              <a:rPr lang="en-IN" sz="1600" dirty="0"/>
              <a:t>)</a:t>
            </a:r>
          </a:p>
          <a:p>
            <a:r>
              <a:rPr lang="en-IN" sz="1600" dirty="0"/>
              <a:t>            -&gt; [Available for next-turn retrieval]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854EE-D45C-4498-767A-320A34B31BA5}"/>
              </a:ext>
            </a:extLst>
          </p:cNvPr>
          <p:cNvSpPr txBox="1"/>
          <p:nvPr/>
        </p:nvSpPr>
        <p:spPr>
          <a:xfrm>
            <a:off x="8044641" y="950549"/>
            <a:ext cx="526403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OUTPUT:</a:t>
            </a:r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active_memories</a:t>
            </a:r>
            <a:r>
              <a:rPr lang="en-IN" sz="1400" dirty="0"/>
              <a:t>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</a:t>
            </a:r>
            <a:r>
              <a:rPr lang="en-IN" sz="1400" dirty="0" err="1"/>
              <a:t>memory_id</a:t>
            </a:r>
            <a:r>
              <a:rPr lang="en-IN" sz="1400" dirty="0"/>
              <a:t>": "mem_0142",</a:t>
            </a:r>
          </a:p>
          <a:p>
            <a:r>
              <a:rPr lang="en-IN" sz="1400" dirty="0"/>
              <a:t>      "content": "User prefers calls after 11 AM",</a:t>
            </a:r>
          </a:p>
          <a:p>
            <a:r>
              <a:rPr lang="en-IN" sz="1400" dirty="0"/>
              <a:t>      "</a:t>
            </a:r>
            <a:r>
              <a:rPr lang="en-IN" sz="1400" dirty="0" err="1"/>
              <a:t>origin_turn</a:t>
            </a:r>
            <a:r>
              <a:rPr lang="en-IN" sz="1400" dirty="0"/>
              <a:t>": 1,</a:t>
            </a:r>
          </a:p>
          <a:p>
            <a:r>
              <a:rPr lang="en-IN" sz="1400" dirty="0"/>
              <a:t>      "</a:t>
            </a:r>
            <a:r>
              <a:rPr lang="en-IN" sz="1400" dirty="0" err="1"/>
              <a:t>last_used_turn</a:t>
            </a:r>
            <a:r>
              <a:rPr lang="en-IN" sz="1400" dirty="0"/>
              <a:t>": 412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response_generated</a:t>
            </a:r>
            <a:r>
              <a:rPr lang="en-IN" sz="1400" dirty="0"/>
              <a:t>": true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5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C06D-7451-EFD6-CF12-880C4855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3) Memory Extraction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6AF39-8789-5647-F354-534CBC285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Structured memory record fields: type, key, value, source_turn, confidence, status.</a:t>
            </a:r>
          </a:p>
          <a:p>
            <a:r>
              <a:rPr lang="en-US" sz="2200"/>
              <a:t>Influence output at inference: memory_id, content, origin_turn, last_used_turn.</a:t>
            </a:r>
          </a:p>
          <a:p>
            <a:r>
              <a:rPr lang="en-US" sz="2200"/>
              <a:t>Example: User prefers calls after 11 AM (origin_turn=1).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61607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CFCD-5411-D5FA-6AEC-A2B3EF69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4) Persistence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E814A-67A6-6EEA-DFF5-E4E0C5F3C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Durable SQLite tables: turns, memories, memory_embeddings.</a:t>
            </a:r>
          </a:p>
          <a:p>
            <a:r>
              <a:rPr lang="en-IN" sz="2200"/>
              <a:t>Lexical index: SQLite FTS5 virtual table for fast keyword retrieval.</a:t>
            </a:r>
          </a:p>
          <a:p>
            <a:r>
              <a:rPr lang="en-IN" sz="2200"/>
              <a:t>Memory lifecycle: active/deprecated with supersedes_memory_id for conflict history.</a:t>
            </a:r>
          </a:p>
        </p:txBody>
      </p:sp>
    </p:spTree>
    <p:extLst>
      <p:ext uri="{BB962C8B-B14F-4D97-AF65-F5344CB8AC3E}">
        <p14:creationId xmlns:p14="http://schemas.microsoft.com/office/powerpoint/2010/main" val="47382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260D-69A5-8D97-F09D-EE9311DC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5) Retrieval &amp; Injection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F63F7-7291-B568-1F2D-6496C4F2E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Hybrid retrieval score = semantic similarity + lexical relevance + recency + confidence.</a:t>
            </a:r>
          </a:p>
          <a:p>
            <a:r>
              <a:rPr lang="en-US" sz="2200"/>
              <a:t>Top-k relevant memories selected; one memory per key to avoid contradictions in context.</a:t>
            </a:r>
          </a:p>
          <a:p>
            <a:r>
              <a:rPr lang="en-US" sz="2200"/>
              <a:t>Memory is injected implicitly into response generation; exposed only when debugging/evaluating.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81432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292A-F13D-B272-E581-CE6B54F2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6) Evaluation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7175F-E7CE-4CCE-2CF7-419BD6FB1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Synthetic long-conversation benchmark (up to 1,000 turns) with delayed recall probes.</a:t>
            </a:r>
          </a:p>
          <a:p>
            <a:r>
              <a:rPr lang="en-US" sz="2200"/>
              <a:t>Conflict scenario verifies supersession behavior (old preference replaced by new preference).</a:t>
            </a:r>
          </a:p>
          <a:p>
            <a:r>
              <a:rPr lang="en-US" sz="2200"/>
              <a:t>Measured metrics: recall_rate, retrieval_relevance, contradiction_rate, latency p50/p95.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12735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F32F9-67A8-B855-ADE3-6C8A9CF1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7) Key Quantitative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2282A-87A2-40DA-A2F3-C709AF5AA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recall_rate: 1</a:t>
            </a:r>
          </a:p>
          <a:p>
            <a:r>
              <a:rPr lang="en-US" sz="2200"/>
              <a:t>retrieval_relevance: 1</a:t>
            </a:r>
          </a:p>
          <a:p>
            <a:r>
              <a:rPr lang="en-US" sz="2200"/>
              <a:t>contradiction_rate: 0</a:t>
            </a:r>
          </a:p>
          <a:p>
            <a:r>
              <a:rPr lang="en-US" sz="2200"/>
              <a:t>total_probes: 3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75614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9916-0384-F914-3376-4D760391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8) Latency Results (Real-Time Requirement)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48D5D-5B5D-57E2-0A92-979FF0454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latency_p50_ms: 2.715</a:t>
            </a:r>
          </a:p>
          <a:p>
            <a:r>
              <a:rPr lang="en-US" sz="2200"/>
              <a:t>latency_p95_ms: 4.938</a:t>
            </a:r>
          </a:p>
          <a:p>
            <a:r>
              <a:rPr lang="en-US" sz="2200"/>
              <a:t>Design choice enabling low latency: asynchronous extraction outside the user-critical path.</a:t>
            </a:r>
          </a:p>
          <a:p>
            <a:r>
              <a:rPr lang="en-US" sz="2200"/>
              <a:t>Inference retrieves only top relevant memories, avoiding prompt overload.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71078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E6A3-A860-CF77-5088-87BF120A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9) Limitations, Future Work, and Demo Links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734B5-F6E6-D371-7774-69753F2BF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Limitations: rule-heavy extractor; semantic retrieval can be scaled further with FAISS/</a:t>
            </a:r>
            <a:r>
              <a:rPr lang="en-IN" sz="2200" dirty="0" err="1"/>
              <a:t>pgvector</a:t>
            </a:r>
            <a:r>
              <a:rPr lang="en-IN" sz="2200" dirty="0"/>
              <a:t>.</a:t>
            </a:r>
          </a:p>
          <a:p>
            <a:r>
              <a:rPr lang="en-IN" sz="2200" dirty="0"/>
              <a:t>Future work: richer LLM extractor, stronger evaluation suite, production-grade vector index.</a:t>
            </a:r>
          </a:p>
          <a:p>
            <a:r>
              <a:rPr lang="en-IN" sz="2200" dirty="0"/>
              <a:t>Demo command: python -m </a:t>
            </a:r>
            <a:r>
              <a:rPr lang="en-IN" sz="2200" dirty="0" err="1"/>
              <a:t>scripts.run_demo</a:t>
            </a:r>
            <a:endParaRPr lang="en-IN" sz="2200" dirty="0"/>
          </a:p>
          <a:p>
            <a:r>
              <a:rPr lang="en-IN" sz="2200" dirty="0"/>
              <a:t>Metrics command: python -m </a:t>
            </a:r>
            <a:r>
              <a:rPr lang="en-IN" sz="2200" dirty="0" err="1"/>
              <a:t>scripts.run_evaluation</a:t>
            </a:r>
            <a:endParaRPr lang="en-IN" sz="2200" dirty="0"/>
          </a:p>
          <a:p>
            <a:r>
              <a:rPr lang="en-IN" sz="2200" dirty="0"/>
              <a:t>API sample logs: API_SAMPLE_RESPONSES.md | Submission summary: SUBMISSION.md</a:t>
            </a:r>
          </a:p>
        </p:txBody>
      </p:sp>
    </p:spTree>
    <p:extLst>
      <p:ext uri="{BB962C8B-B14F-4D97-AF65-F5344CB8AC3E}">
        <p14:creationId xmlns:p14="http://schemas.microsoft.com/office/powerpoint/2010/main" val="23762969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</TotalTime>
  <Words>684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Long-Form Memory System for 1,000+ Turns</vt:lpstr>
      <vt:lpstr>1) Problem Statement</vt:lpstr>
      <vt:lpstr>2) System Architecture (Components + Dataflow)</vt:lpstr>
      <vt:lpstr>3) Memory Extraction Format</vt:lpstr>
      <vt:lpstr>4) Persistence Strategy</vt:lpstr>
      <vt:lpstr>5) Retrieval &amp; Injection Policy</vt:lpstr>
      <vt:lpstr>6) Evaluation Methodology</vt:lpstr>
      <vt:lpstr>7) Key Quantitative Results</vt:lpstr>
      <vt:lpstr>8) Latency Results (Real-Time Requirement)</vt:lpstr>
      <vt:lpstr>9) Limitations, Future Work, and Demo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KUMAR(IED10008.22@bitmesra.ac.in)</dc:creator>
  <cp:lastModifiedBy>VIVEK KUMAR(IED10008.22@bitmesra.ac.in)</cp:lastModifiedBy>
  <cp:revision>4</cp:revision>
  <dcterms:created xsi:type="dcterms:W3CDTF">2026-02-12T12:47:26Z</dcterms:created>
  <dcterms:modified xsi:type="dcterms:W3CDTF">2026-02-13T17:17:23Z</dcterms:modified>
</cp:coreProperties>
</file>